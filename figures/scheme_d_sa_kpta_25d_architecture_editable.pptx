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13c6db0714810" /><Relationship Type="http://schemas.openxmlformats.org/officeDocument/2006/relationships/extended-properties" Target="/docProps/app.xml" Id="R256098b778cc435e" /><Relationship Type="http://schemas.openxmlformats.org/officeDocument/2006/relationships/officeDocument" Target="/ppt/presentation.xml" Id="R1d8e8ab3f1a8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9cc19aa204a54"/>
  </p:sldMasterIdLst>
  <p:notesMasterIdLst>
    <p:notesMasterId xmlns:r="http://schemas.openxmlformats.org/officeDocument/2006/relationships" r:id="Rba9a2758c52e4882"/>
  </p:notesMasterIdLst>
  <p:sldIdLst>
    <p:sldId xmlns:r="http://schemas.openxmlformats.org/officeDocument/2006/relationships" id="256" r:id="R9bffe93a27e44d8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f5702d8874e34" /><Relationship Type="http://schemas.openxmlformats.org/officeDocument/2006/relationships/slideMaster" Target="/ppt/slideMasters/slideMaster1.xml" Id="R00a9cc19aa204a54" /><Relationship Type="http://schemas.openxmlformats.org/officeDocument/2006/relationships/notesMaster" Target="/ppt/notesMasters/notesMaster1.xml" Id="Rba9a2758c52e4882" /><Relationship Type="http://schemas.openxmlformats.org/officeDocument/2006/relationships/presProps" Target="/ppt/presProps.xml" Id="R9d064bf102c4439e" /><Relationship Type="http://schemas.openxmlformats.org/officeDocument/2006/relationships/viewProps" Target="/ppt/viewProps.xml" Id="Rb1edabffb1e147c2" /><Relationship Type="http://schemas.openxmlformats.org/officeDocument/2006/relationships/tableStyles" Target="/ppt/tableStyles.xml" Id="Rc15b2c4409714638" /><Relationship Type="http://schemas.openxmlformats.org/officeDocument/2006/relationships/slide" Target="/ppt/slides/slide1.xml" Id="R9bffe93a27e4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d8a52ddaa40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89dcb5ad04298" /><Relationship Type="http://schemas.openxmlformats.org/officeDocument/2006/relationships/notesMaster" Target="/ppt/notesMasters/notesMaster1.xml" Id="R283ade8e900c46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46e0ce39440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01dde2a92494b" /><Relationship Type="http://schemas.openxmlformats.org/officeDocument/2006/relationships/slideLayout" Target="/ppt/slideLayouts/slideLayout1.xml" Id="R586014c5896c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014c5896c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483ce93a64d01" /><Relationship Type="http://schemas.openxmlformats.org/officeDocument/2006/relationships/notesSlide" Target="/ppt/notesSlides/notesSlide1.xml" Id="R88483dc487d5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CE83A-1EFF-4DE9-A6D5-E86F432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1466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SA-KPTA-Net: Slice-Aware 2.5D Kinetic Prior-Guided Temporal Attention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E061-9467-4686-9D4A-C612FB86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Scheme D · Fully editable architecture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5C68-4A98-49E9-B35E-332299C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04875"/>
            <a:ext cx="1762125" cy="585787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AFF32-D259-400E-BF54-9D8318E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52475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MULTI-PHASE 2.5D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01D73-8449-4366-B33B-4DCF3420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2395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Three neighboring slices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A5B78-A9FF-4BEA-8AF8-C06EAB20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31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z − 1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609FC-CCED-4B2E-AF8C-FB569BF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3EB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15AFF-6F94-4F78-9F6A-889212E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811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78C"/>
          </a:solidFill>
          <a:ln xmlns:a="http://schemas.openxmlformats.org/drawingml/2006/main" w="0">
            <a:solidFill>
              <a:srgbClr val="6877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F7696-2751-40EF-A342-700AFB01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76425"/>
            <a:ext cx="257175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F87E9-BF2B-4B9E-8011-6348C35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95250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8653E-BA3B-4BA9-9912-2EE8210E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8117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9D5B2-FB54-40BE-80EC-92269CA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1927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5A782-85DC-41B6-9E74-5EB1336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5737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B629A-79F6-4028-86A4-B0C4180F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9547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72E38-5378-4C25-A75F-E79E563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3357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E17AC-5F69-4E7B-812D-0341949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8F552-A959-4740-BF4C-F13C9C63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3EB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DE5AE-ABF8-47CF-8B0B-B6728F1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52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78C"/>
          </a:solidFill>
          <a:ln xmlns:a="http://schemas.openxmlformats.org/drawingml/2006/main" w="0">
            <a:solidFill>
              <a:srgbClr val="6877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E712E-5864-412F-B624-6807547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48050"/>
            <a:ext cx="257175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B29B7-74AC-4CC6-AD0F-B71C008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33775"/>
            <a:ext cx="95250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E9561-E681-4E0F-9EDA-3465FD1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52800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2B428-7807-46CC-BB4F-FC2AEAB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90900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E2F1D-E554-452D-8A06-2E59CD1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EFA9A-411B-4CA1-AF1D-A270943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67100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5387D-7BB0-47F0-9585-D8ACD46E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05200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9D175-B917-48D6-A0E1-4861B71F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863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z + 1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F9D48-04FA-4E88-810D-27A104E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3EB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6B5A6-06ED-45B8-9087-DDAC1C0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244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78C"/>
          </a:solidFill>
          <a:ln xmlns:a="http://schemas.openxmlformats.org/drawingml/2006/main" w="0">
            <a:solidFill>
              <a:srgbClr val="6877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705A5-935D-46C1-851A-1A7D81B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257175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FE052-2BAF-422A-8F78-A1B9351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05400"/>
            <a:ext cx="95250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C1F26-51EC-49EA-B228-D1CEE92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F6131-607F-4157-A588-44AF306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6252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2876F-BAB8-4BF0-9369-EA6B835F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0062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A2E8F-BABE-4AB1-A5AC-6CF159F4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03872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D7ABF9-8BC8-4CDE-995A-25D38464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76825"/>
            <a:ext cx="17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7A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B81F99-FF58-4420-B421-09814D5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53125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Pre · Post1–8 · SUB1–8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1FDD36-6DE8-4BCE-AA6E-6D9D78E5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1507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 ∈ ℝ B×3×17×H×W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3363AE-B987-4607-96B6-95F55923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4875"/>
            <a:ext cx="4857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3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940BF7-1191-4A21-AC11-4338B1C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52475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SLICE-AWARE SPATIOTEMPORAL REPRESENTATION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249A23-BD76-4AD3-9FB1-13E7AFA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38250"/>
            <a:ext cx="1257300" cy="223837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EF59A5-65FE-435A-BDB0-885553F4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5255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Shared Slice-wise</a:t>
            </a:r>
          </a:p>
          <a:p xmlns:a="http://schemas.openxmlformats.org/drawingml/2006/main">
            <a:pPr algn="ctr">
              <a:defRPr sz="13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CNN 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6BCCF-0FF2-4C80-A1C0-AD6B3409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33575"/>
            <a:ext cx="36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10142D-A459-433F-A722-24ABC117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71675"/>
            <a:ext cx="36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4753E4-87EE-4745-BC69-3E36C2E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9775"/>
            <a:ext cx="36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ECB8A7-2E12-47EF-B157-F922CCC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36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EF7DCB-0869-4375-B918-A3B0490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146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independent for every</a:t>
            </a:r>
          </a:p>
          <a:p xmlns:a="http://schemas.openxmlformats.org/drawingml/2006/main">
            <a:pPr algn="ctr">
              <a:defRPr sz="975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slice and phase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FA6DC9-C9C1-4E50-B18F-11FF168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718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[B,3,17,C,H,W]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698043-6F63-4182-A837-6D45A96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8863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CD081A-449B-4CF0-A277-D78E741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58B3D2-1195-4EB7-96C9-4E4052D2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38250"/>
            <a:ext cx="133350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2491BD-2F48-4D53-8A2D-D976560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52550"/>
            <a:ext cx="1181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CSAM Slice Context</a:t>
            </a:r>
          </a:p>
          <a:p xmlns:a="http://schemas.openxmlformats.org/drawingml/2006/main">
            <a:pPr algn="ctr">
              <a:defRPr sz="13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Aggregation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22FEF1-0BFE-41D1-A32D-CAC3AD6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9525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41DE75-17FC-4F09-A726-57661E5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semantic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36DFEB-1843-4C7F-A8F5-51B43924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9525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26DC2A-6E0E-4D77-B3F2-C1B1CA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spatial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CE984A-502D-4529-8937-44742E74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9525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031AC8-8FED-499C-81E4-C4737AF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inter-slice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1091F6-3166-438D-813D-7DBF02C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aggregate z−1, z, z+1</a:t>
            </a:r>
          </a:p>
          <a:p xmlns:a="http://schemas.openxmlformats.org/drawingml/2006/main">
            <a:pPr algn="ctr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preserve T=17 phases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94C107-0FDB-4BF9-AF39-F811757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6707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[B,17,C,H,W]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8E2796-AD55-4F17-A79C-ED87926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28863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64486E-5650-4215-AF40-61F71308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479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A8C589-A100-457C-840F-9FD6FF6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1524000" cy="25241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463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229A22-9EAB-4191-BE3C-6FEA674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PDWA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2828AD-F19A-46B9-B217-93AAB088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049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Phase-Difference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Weighting Attention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A31D1C-C37C-4FFA-8160-050A9105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11906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2DA0B0-0472-49E3-9727-4DD87E1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1190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57F954-F5F3-4683-8D67-596FD35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11906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7A2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CFE3C1-3961-48A4-9B04-1722624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1190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SUB enhancement prior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373E6B-6C0D-4965-8E63-08B4379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67000"/>
            <a:ext cx="11906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F07A2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8B3E3F-2824-496A-8166-B60D6AB0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67000"/>
            <a:ext cx="1190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kinetic bias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C7AEF0-1A7C-46EF-8179-1C456D04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62275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softmax over 17 phases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2C8F6D-98C9-4540-860B-296C837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9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F9478B-BDFE-4340-A697-A8A4AE6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B651EA-F6D0-41E8-A4B1-E465760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6C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E0408A-564D-4684-8D46-0D24663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8E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6C0E9F-97A1-4FC5-B142-14B2C79E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41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74AD5E-DFB3-4562-A06E-CC70AFCF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3798354-9ED7-45D6-9D3B-FF0693F6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8C3111-7853-474B-9F27-03D6E89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EBAB58-88DD-4839-AAB1-B187EDD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987571-B2C3-49FA-900C-7C4B38F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αt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DBE2606-61DA-4BFD-8090-A1918DCE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Fphase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0F18A8-8900-4F63-AF1B-5993407B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4857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A2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269570-2A11-4C48-81EC-5F51D3F0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KINETIC PRIOR MODELING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F82909-0BBE-4CF3-ADE3-BB26F87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29125"/>
            <a:ext cx="2524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F07A2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0BA304-7913-4D5F-88EB-6C81C4F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Pseudo-Kinetic Map Builder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59F1EF-B863-414F-9FDB-17A9838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000625"/>
            <a:ext cx="361950" cy="5143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5F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0F4AE1-67FC-4AB9-AA35-BC0E21D2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1524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3E2F32-4EE9-4C61-881E-194CDDA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562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Peak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DE74C97-533E-478E-B9E6-551586FE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000625"/>
            <a:ext cx="361950" cy="5143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A6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D38569C-26B7-4463-9314-1E4289D3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524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6206A7-227A-4C59-9E06-A810BE6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62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3CEC2A2-AF40-43EE-8C06-70F954DA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00625"/>
            <a:ext cx="361950" cy="5143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C7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CAE1F0-784E-46DE-BE1F-4FA49D1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1524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7E49E9-2576-4072-88EA-6A691F4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62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Temporal</a:t>
            </a:r>
          </a:p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8ED3C4-1116-43ED-B3E7-DA50400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00625"/>
            <a:ext cx="361950" cy="5143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AB3E8B-17A5-4155-8035-87DA5C08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43500"/>
            <a:ext cx="1524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B638AD-0999-46F7-83A8-785168C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62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Early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B2A7D1-D614-4395-AA43-86A1A6F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00625"/>
            <a:ext cx="361950" cy="5143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7A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037999-B643-491B-BE93-3299665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1524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305A863-674F-43D2-8980-051EAFC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5626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Late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839A036-27F5-42CC-A99D-34B580C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57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 ∈ ℝ B×3×5×H×W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3FFF2F-397C-4D9A-9B63-2C62BB5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24463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24EC49-B722-4171-B1CA-4F3C658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143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07FB8A-1BE9-4005-9E05-8A4EFA82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29125"/>
            <a:ext cx="1762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F07A2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CD7AC6B-69AB-465A-B1E6-0971A4D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9105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Kinetic Prior Encoder</a:t>
            </a:r>
          </a:p>
          <a:p xmlns:a="http://schemas.openxmlformats.org/drawingml/2006/main">
            <a:pPr algn="ctr">
              <a:defRPr sz="13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+ Slice Aggregation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6CA03B-125F-4123-9783-05DB42C9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713" y="5116830"/>
            <a:ext cx="325755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7602B6E-100D-4310-9BD9-2182B80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51120"/>
            <a:ext cx="325755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A176D4-4281-49FD-BB34-EA2015F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5185410"/>
            <a:ext cx="325755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9CFF55-5DE6-4776-A20E-D0E05A8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9700"/>
            <a:ext cx="325755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CAC4D7A-C0E3-417D-9AF8-9F55DD47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29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Fkin ∈ ℝ B×C×H×W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CFDA880-5195-4E96-A627-0D5D80EA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3762375"/>
            <a:ext cx="28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BA5D086-FBDA-400D-A1D3-32F822E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6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▲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423816-1F47-41C0-9378-675917C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00475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kinetic bias +</a:t>
            </a:r>
          </a:p>
          <a:p xmlns:a="http://schemas.openxmlformats.org/drawingml/2006/main">
            <a:pPr algn="l">
              <a:defRPr sz="90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difference refinement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5C48307-3957-46EA-BB25-BB134E6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1190625" cy="2476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A2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28E5EF-7606-4806-8D78-15E7D38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954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DUAL-ROLE FUSION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0D2A78-1808-459E-87CA-517C6E1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28875"/>
            <a:ext cx="942975" cy="16668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9050">
            <a:solidFill>
              <a:srgbClr val="F07A24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8619CB-AB23-43D7-B3E4-FBA7C2BE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828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Kinetic–Raw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BF65EB4-D7EA-4194-BF50-692BC00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71775"/>
            <a:ext cx="828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Residual Fusion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640C628-BCBB-448E-8967-6DE709F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43250"/>
            <a:ext cx="790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Fphase + Fkin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C746E92-F49B-4FF8-A12A-075BC9D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71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A24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97DA9E-9E75-4C3B-9EAF-4ADD00E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62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BCFEB51-6381-4904-A3E2-B023A28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F8F3A2B-A18A-4533-9F73-ED1F985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244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28DE5D-486B-4C14-A9D8-0AEC3ED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263" y="3714750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8A2417-2383-4407-B1D6-B72648D5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0463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CA8F1F-3088-426F-A1C4-DEBE9B2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8804842-5B18-49AE-8AC5-6C653E1A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81575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explicit kinetic feature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5658B4-2E00-4B57-BEAB-7A5E818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23812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BC63949-087F-4ECB-96C2-B46510A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14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87A6032-F910-472A-BAC0-23A9C46E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4875"/>
            <a:ext cx="3333750" cy="5524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4CC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862846-2E13-4AC2-9874-803E4FD8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524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A4CC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4CC2"/>
                </a:solidFill>
                <a:latin typeface="Aptos"/>
                <a:ea typeface="Aptos"/>
                <a:cs typeface="Aptos"/>
              </a:rPr>
              <a:t>HYBRID MULTISCALE ENCODING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8A1282A-7786-456B-A862-445DC7A4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16205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CNN Encoder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1A7F7C4-7DAA-4D8D-B277-F93CDDEB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16205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91"/>
                </a:solidFill>
                <a:latin typeface="Aptos"/>
                <a:ea typeface="Aptos"/>
                <a:cs typeface="Aptos"/>
              </a:rPr>
              <a:t>U-Net Decoder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F10B8DA-8B84-46B6-B264-DF0EDDC9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049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347D928-4C0E-4E3A-B7C1-79179B2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04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 · H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BD5F64A-F0A6-4D90-A56A-C99A999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764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B61A2-5508-461C-AEA1-106B1CCE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81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84CD95-62E9-41BF-817E-3C2FA58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7F8495-E44A-41C4-8112-06ED037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2C · H/2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DC5DDA-F9DC-47AC-9764-8F15A3F7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146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98A8B4F-B949-4ADE-94C4-C6AA8A8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219C51E-E939-4FE1-B00A-B47D35B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104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A3A6D30-3E9B-47D6-892D-464FE39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4C · H/4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3100521-537B-4675-8567-06D78FC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527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36FDE67-1ADD-4C6D-B32E-8822B97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57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A303439-EA62-49D6-AC4B-334E6F82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19475"/>
            <a:ext cx="95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04D44B5-7744-4705-8052-0085DAAC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19475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8C · H/8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7E7F420-D1E8-4501-8F79-3BB84E7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909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9CA1C52-3CBB-472A-BC1A-BF2D347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95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4DF46CA-1931-47D1-8396-6CCB6BF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57650"/>
            <a:ext cx="857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14288">
            <a:solidFill>
              <a:srgbClr val="7A4CC2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E9B3C3-D8FB-4477-886C-C357BE58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576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16C · H/16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721D0A8-B0BF-4933-91DD-92B2F88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577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19050">
            <a:solidFill>
              <a:srgbClr val="7A4CC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77FA826-89FE-43B8-9BAA-1E06AE1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43475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A4C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4CC2"/>
                </a:solidFill>
                <a:latin typeface="Aptos"/>
                <a:ea typeface="Aptos"/>
                <a:cs typeface="Aptos"/>
              </a:rPr>
              <a:t>Swin Transformer Bottleneck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E13CF45-508E-450B-95FD-3D0EA33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01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depth=2 · window=7 · heads=4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14E5434-8C01-4F45-97A6-C1393D38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196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CC2"/>
          </a:solidFill>
          <a:ln xmlns:a="http://schemas.openxmlformats.org/drawingml/2006/main" w="0">
            <a:solidFill>
              <a:srgbClr val="7A4CC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E16361B-F7D9-4594-908D-3E4DDE4A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4C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4CC2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B4B9883-1B8F-4F19-BE3C-C6D73F55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57650"/>
            <a:ext cx="742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7F6"/>
          </a:solidFill>
          <a:ln xmlns:a="http://schemas.openxmlformats.org/drawingml/2006/main" w="14288">
            <a:solidFill>
              <a:srgbClr val="168B91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FF50DB9-85C6-4134-81FD-A859EF08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576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8C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D57C131-3E31-4A97-9961-E18CEB6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814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91"/>
          </a:solidFill>
          <a:ln xmlns:a="http://schemas.openxmlformats.org/drawingml/2006/main" w="0">
            <a:solidFill>
              <a:srgbClr val="168B91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599A9B8-EBC4-46C8-856D-AB819DE5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81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B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B91"/>
                </a:solidFill>
                <a:latin typeface="Aptos"/>
                <a:ea typeface="Aptos"/>
                <a:cs typeface="Aptos"/>
              </a:rPr>
              <a:t>▲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CF6982E-570E-48E0-86B7-C991152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19475"/>
            <a:ext cx="742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7F6"/>
          </a:solidFill>
          <a:ln xmlns:a="http://schemas.openxmlformats.org/drawingml/2006/main" w="14288">
            <a:solidFill>
              <a:srgbClr val="168B91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D11B862-4635-4C89-9ABC-7D6BA075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19475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4C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1D52C37-CAAC-496C-8BAC-77268EE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43250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91"/>
          </a:solidFill>
          <a:ln xmlns:a="http://schemas.openxmlformats.org/drawingml/2006/main" w="0">
            <a:solidFill>
              <a:srgbClr val="168B91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B366880-C18D-44EE-8865-93F85E6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43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B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B91"/>
                </a:solidFill>
                <a:latin typeface="Aptos"/>
                <a:ea typeface="Aptos"/>
                <a:cs typeface="Aptos"/>
              </a:rPr>
              <a:t>▲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D598DC7-1B38-40DC-B400-BB2CB6A7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81300"/>
            <a:ext cx="742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7F6"/>
          </a:solidFill>
          <a:ln xmlns:a="http://schemas.openxmlformats.org/drawingml/2006/main" w="14288">
            <a:solidFill>
              <a:srgbClr val="168B91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496FD89-4C40-43F9-9AD4-ED016A46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813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2C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DD55136-5DC1-4544-AED0-2169C58A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050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91"/>
          </a:solidFill>
          <a:ln xmlns:a="http://schemas.openxmlformats.org/drawingml/2006/main" w="0">
            <a:solidFill>
              <a:srgbClr val="168B91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5B3E27C-967F-488B-A3BE-924ECD5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05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B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B91"/>
                </a:solidFill>
                <a:latin typeface="Aptos"/>
                <a:ea typeface="Aptos"/>
                <a:cs typeface="Aptos"/>
              </a:rPr>
              <a:t>▲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3CF7C54-5CDA-4063-A64F-7674790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43125"/>
            <a:ext cx="742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7F6"/>
          </a:solidFill>
          <a:ln xmlns:a="http://schemas.openxmlformats.org/drawingml/2006/main" w="14288">
            <a:solidFill>
              <a:srgbClr val="168B91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F803194-72BD-4814-A83D-7EC9509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43125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026C05A-B10B-42A4-BCBB-8AA5C9C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76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10AA77E-0139-4F7D-A4A8-DDD26A40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8115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078"/>
                </a:solidFill>
                <a:latin typeface="Aptos"/>
                <a:ea typeface="Aptos"/>
                <a:cs typeface="Aptos"/>
              </a:rPr>
              <a:t>···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DF7607F-808A-4BE9-8B40-8B7DCD10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8592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5FBA4CA-BA98-4CD2-9304-2DFB4A9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145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0A187E8-A3B4-48F2-9DE2-41664A0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19325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078"/>
                </a:solidFill>
                <a:latin typeface="Aptos"/>
                <a:ea typeface="Aptos"/>
                <a:cs typeface="Aptos"/>
              </a:rPr>
              <a:t>···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5F99271-9B04-458C-AFE4-DB112293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24100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4019360-A6ED-4385-93B1-2E5BFEA0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03CFE43-6AA3-44AE-9D16-30765D62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078"/>
                </a:solidFill>
                <a:latin typeface="Aptos"/>
                <a:ea typeface="Aptos"/>
                <a:cs typeface="Aptos"/>
              </a:rPr>
              <a:t>···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201FB9A-1B61-4C6D-9798-7ADF700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D904261-31D5-4982-9FBF-D4C73D28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90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623411E-FACD-4BCE-AA9E-B3ECC31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95675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078"/>
                </a:solidFill>
                <a:latin typeface="Aptos"/>
                <a:ea typeface="Aptos"/>
                <a:cs typeface="Aptos"/>
              </a:rPr>
              <a:t>···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2105FED-A89A-4F3D-8D24-CEE225FE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00450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solidFill>
              <a:srgbClr val="AAB6C8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1FC9D29-8D78-4909-96FE-92800687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0463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67940DD-EFFF-4959-BE5E-C747705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19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E9CE0E0-3456-433F-8F47-503A648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904875"/>
            <a:ext cx="2952750" cy="5524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D07D515-C5CA-483C-A0BB-E6C5038F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524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UNCERTAINTY-AWARE REFINEMENT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DD729C5-9508-497A-9568-E8B9A9CA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257300"/>
            <a:ext cx="2571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6F8B5E0-26E9-43E7-A3B9-BCC4696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352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Coarse Segmentation Head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70F0180-ABD0-4F66-A11C-6D1FEB3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600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Pc = σ(Conv1×1(Fdec))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AC5F7DE-55A7-4035-84B2-96E216E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95475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82C539E-C242-469D-B16A-0E6C1B0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52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D4DC131-2764-48D9-99AC-8EC08D2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1336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C951286-9385-408B-824C-6B66B44B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2098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Uncertainty Map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EF16254-926C-41A8-802D-A80F25C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765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 = 1 − |2Pc − 1|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A3D336D-0E42-41E3-9268-A741CE2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828925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CCB55BE-1ED0-46CE-94ED-632F915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14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C46BB1C-F0B6-41AA-AE09-228E66B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95625"/>
            <a:ext cx="2571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56A8321-74E8-43BB-894B-367123E4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19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Uncertainty-Guided</a:t>
            </a:r>
          </a:p>
          <a:p xmlns:a="http://schemas.openxmlformats.org/drawingml/2006/main">
            <a:pPr algn="ctr">
              <a:defRPr sz="142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Boundary Refinement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CAB56C3-EA25-43FB-8869-AFA9113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14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decoder feature + uncertainty gating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F5CB376-5BEF-484F-A1C8-0D963CB2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88" y="2324100"/>
            <a:ext cx="285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91"/>
          </a:solidFill>
          <a:ln xmlns:a="http://schemas.openxmlformats.org/drawingml/2006/main" w="0">
            <a:solidFill>
              <a:srgbClr val="168B91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515E67D-984D-49F2-85CB-4FC31FFF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3448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B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B91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C837313-B33A-42D5-9B12-B95DDFB3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1052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068F51E-59A7-49E1-A1A8-BB75A1B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238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7D3EF21-4880-4B0B-A459-7D231ECC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29125"/>
            <a:ext cx="819150" cy="13811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2463C7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3975281-6C51-429B-B5BD-31E3C17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476750"/>
            <a:ext cx="742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Tumor</a:t>
            </a:r>
          </a:p>
          <a:p xmlns:a="http://schemas.openxmlformats.org/drawingml/2006/main">
            <a:pPr algn="ctr">
              <a:defRPr sz="90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Seg.</a:t>
            </a:r>
          </a:p>
          <a:p xmlns:a="http://schemas.openxmlformats.org/drawingml/2006/main">
            <a:pPr algn="ctr">
              <a:defRPr sz="900" b="1">
                <a:solidFill>
                  <a:srgbClr val="246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3C7"/>
                </a:solidFill>
                <a:latin typeface="Aptos"/>
                <a:ea typeface="Aptos"/>
                <a:cs typeface="Aptos"/>
              </a:rPr>
              <a:t>(final)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D784764-0EA7-4684-A6A6-56784B81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019675"/>
            <a:ext cx="381000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C7"/>
          </a:solidFill>
          <a:ln xmlns:a="http://schemas.openxmlformats.org/drawingml/2006/main" w="9525">
            <a:solidFill>
              <a:srgbClr val="2463C7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F1B8639-4E1C-4677-8F10-A85BD79F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5816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Ŷ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EE05FCF-D249-46C5-BCDD-EC007016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41052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F37C408-CA8C-4D31-A200-A8B6E76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4238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6945A98-0821-4696-B16C-4606FAB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4429125"/>
            <a:ext cx="819150" cy="13811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4288">
            <a:solidFill>
              <a:srgbClr val="D94747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0685FA6-B9B0-4FDA-8C19-161BBDD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476750"/>
            <a:ext cx="742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Boundary</a:t>
            </a:r>
          </a:p>
          <a:p xmlns:a="http://schemas.openxmlformats.org/drawingml/2006/main">
            <a:pPr algn="ctr">
              <a:defRPr sz="900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Pred.</a:t>
            </a:r>
          </a:p>
          <a:p xmlns:a="http://schemas.openxmlformats.org/drawingml/2006/main">
            <a:pPr algn="ctr">
              <a:defRPr sz="900" b="1">
                <a:solidFill>
                  <a:srgbClr val="D9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747"/>
                </a:solidFill>
                <a:latin typeface="Aptos"/>
                <a:ea typeface="Aptos"/>
                <a:cs typeface="Aptos"/>
              </a:rPr>
              <a:t>(aux.)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38E86CC-6836-4F1D-A95A-56CAFD6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019675"/>
            <a:ext cx="381000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4747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AF2E2DCF-65BB-4CF8-9F8E-37492E91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55816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B̂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EAC4085-FBFC-471B-9EE7-4F7E646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1052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16A68A0-0544-4CBB-8F3A-1006867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4238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F15CBAC-BCB2-407A-BD14-3B16AD4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429125"/>
            <a:ext cx="819150" cy="13811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F07A24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2C98FA7-99EF-45D5-BACC-05A6951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476750"/>
            <a:ext cx="742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Uncertainty</a:t>
            </a:r>
          </a:p>
          <a:p xmlns:a="http://schemas.openxmlformats.org/drawingml/2006/main">
            <a:pPr algn="ctr">
              <a:defRPr sz="90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Supervision</a:t>
            </a:r>
          </a:p>
          <a:p xmlns:a="http://schemas.openxmlformats.org/drawingml/2006/main">
            <a:pPr algn="ctr">
              <a:defRPr sz="900" b="1">
                <a:solidFill>
                  <a:srgbClr val="F07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7A24"/>
                </a:solidFill>
                <a:latin typeface="Aptos"/>
                <a:ea typeface="Aptos"/>
                <a:cs typeface="Aptos"/>
              </a:rPr>
              <a:t>(aux.)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5D10980-716B-479A-82EB-5D8181DD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5019675"/>
            <a:ext cx="381000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07A24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DDF1779-B60E-466C-9764-52601A2A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55816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Û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D0160FA-E0DE-45D0-8A1B-A2D2B84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905625"/>
            <a:ext cx="981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AAB6C8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DCA8E15-4A39-483E-8B03-5FB8D93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029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Overall training objective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AD62008-D4E0-4B79-93E0-70545A8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3342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 = LDice+BCE + λb Lboundary + λu Luncertainty + λa Lattention-smooth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04CA1E2-1BB2-49F1-AC9A-6892015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79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463C7"/>
          </a:solidFill>
          <a:ln xmlns:a="http://schemas.openxmlformats.org/drawingml/2006/main" w="0">
            <a:solidFill>
              <a:srgbClr val="2463C7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5A909EE-253F-4614-804B-93978C3F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743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appearance feature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71BE51-638F-4234-953B-B31FC2F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79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07A24"/>
          </a:solidFill>
          <a:ln xmlns:a="http://schemas.openxmlformats.org/drawingml/2006/main" w="0">
            <a:solidFill>
              <a:srgbClr val="F07A24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1B17012-C678-4298-A80B-C48D527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743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kinetic prior / guidance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E90B8A4-1BED-4125-B1E1-90D8C632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79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A4CC2"/>
          </a:solidFill>
          <a:ln xmlns:a="http://schemas.openxmlformats.org/drawingml/2006/main" w="0">
            <a:solidFill>
              <a:srgbClr val="7A4CC2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9CB862C-430B-4A75-A97B-62CBEB3A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743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transformer bottleneck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8F769BB-2691-4862-9D66-A9BE40C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79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B91"/>
          </a:solidFill>
          <a:ln xmlns:a="http://schemas.openxmlformats.org/drawingml/2006/main" w="0">
            <a:solidFill>
              <a:srgbClr val="168B91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B824D9A-876C-43CD-A9B9-81739EA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743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decoder feature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14FEC72-545F-4037-8F33-589F1346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9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0">
            <a:solidFill>
              <a:srgbClr val="D94747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F624E96-3EBD-4E32-ABDB-710DE35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7743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auxiliary supervision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3DB13CC-F89E-45C5-ACD6-D5C6F3C3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905625"/>
            <a:ext cx="295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6C8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B3BE03D-F29B-4FFB-9A11-BA7F1B8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02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Key contribution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DC98055-3F84-4B19-9410-D40E3F8A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33425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8"/>
                </a:solidFill>
                <a:latin typeface="Aptos"/>
                <a:ea typeface="Aptos"/>
                <a:cs typeface="Aptos"/>
              </a:rPr>
              <a:t>Kinetic priors guide phase attention and explicitly enter the encoder through residual fusion.</a:t>
            </a:r>
          </a:p>
        </p:txBody>
      </p:sp>
    </p:spTree>
    <p:extLst>
      <p:ext uri="{BB962C8B-B14F-4D97-AF65-F5344CB8AC3E}">
        <p14:creationId xmlns:p14="http://schemas.microsoft.com/office/powerpoint/2010/main" val="674536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2026-06-10T15:14:31.8860000Z</dcterms:created>
  <dcterms:modified xsi:type="dcterms:W3CDTF">2026-06-10T15:14:31.8860000Z</dcterms:modified>
</coreProperties>
</file>